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0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image" Target="../media/image14.jpg"/><Relationship Id="rId4" Type="http://schemas.openxmlformats.org/officeDocument/2006/relationships/image" Target="../media/image15.jpg"/><Relationship Id="rId5" Type="http://schemas.openxmlformats.org/officeDocument/2006/relationships/image" Target="../media/image16.jpg"/><Relationship Id="rId6" Type="http://schemas.openxmlformats.org/officeDocument/2006/relationships/image" Target="../media/image17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9.jpg"/><Relationship Id="rId4" Type="http://schemas.openxmlformats.org/officeDocument/2006/relationships/image" Target="../media/image20.jpg"/><Relationship Id="rId5" Type="http://schemas.openxmlformats.org/officeDocument/2006/relationships/image" Target="../media/image21.jpg"/><Relationship Id="rId6" Type="http://schemas.openxmlformats.org/officeDocument/2006/relationships/image" Target="../media/image22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4.png"/><Relationship Id="rId4" Type="http://schemas.openxmlformats.org/officeDocument/2006/relationships/image" Target="../media/image25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kue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3560" y="320040"/>
            <a:ext cx="846010" cy="960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1508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38BDF8"/>
                </a:solidFill>
                <a:latin typeface="Calibri"/>
              </a:rPr>
              <a:t>Good Morning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8FAFC"/>
                </a:solidFill>
                <a:latin typeface="Calibri"/>
              </a:rPr>
              <a:t>Campus Maintenance &amp;
Complaint Management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4290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94A3B8"/>
                </a:solidFill>
                <a:latin typeface="Calibri"/>
              </a:rPr>
              <a:t>Database Systems Lab Project  ·  Oracle SQL/PL/SQL  ·  Node.js  ·  Web Portals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091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8FAFC"/>
                </a:solidFill>
                <a:latin typeface="Calibri"/>
              </a:rPr>
              <a:t>Name: Ahnaf Tajwar Sadi
Roll: 2207104  ·  KUET CSE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080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A78BFA"/>
                </a:solidFill>
                <a:latin typeface="Calibri"/>
              </a:rPr>
              <a:t>https://github.com/ATSadi/dB-proj/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8FAFC"/>
                </a:solidFill>
                <a:latin typeface="Calibri"/>
              </a:rPr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94A3B8"/>
                </a:solidFill>
                <a:latin typeface="Calibri"/>
              </a:rPr>
              <a:t>A database-driven campus system for complaints, worker assignments, SLA tracking, chronic-issue detection, and monthly reporting.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F8FAFC"/>
                </a:solidFill>
                <a:latin typeface="Calibri"/>
              </a:defRPr>
            </a:pPr>
            <a:r>
              <a:t>•  Students report location-based maintenance issues with priority</a:t>
            </a:r>
          </a:p>
          <a:p>
            <a:pPr>
              <a:spcAft>
                <a:spcPts val="800"/>
              </a:spcAft>
              <a:defRPr sz="2000">
                <a:solidFill>
                  <a:srgbClr val="F8FAFC"/>
                </a:solidFill>
                <a:latin typeface="Calibri"/>
              </a:defRPr>
            </a:pPr>
            <a:r>
              <a:t>•  Supervisors assign workers and monitor overdue / chronic cases</a:t>
            </a:r>
          </a:p>
          <a:p>
            <a:pPr>
              <a:spcAft>
                <a:spcPts val="800"/>
              </a:spcAft>
              <a:defRPr sz="2000">
                <a:solidFill>
                  <a:srgbClr val="F8FAFC"/>
                </a:solidFill>
                <a:latin typeface="Calibri"/>
              </a:defRPr>
            </a:pPr>
            <a:r>
              <a:t>•  Workers execute jobs and update availability</a:t>
            </a:r>
          </a:p>
          <a:p>
            <a:pPr>
              <a:spcAft>
                <a:spcPts val="800"/>
              </a:spcAft>
              <a:defRPr sz="2000">
                <a:solidFill>
                  <a:srgbClr val="F8FAFC"/>
                </a:solidFill>
                <a:latin typeface="Calibri"/>
              </a:defRPr>
            </a:pPr>
            <a:r>
              <a:t>•  Students rate completed work; Admins generate monthly reports</a:t>
            </a:r>
          </a:p>
          <a:p>
            <a:pPr>
              <a:spcAft>
                <a:spcPts val="800"/>
              </a:spcAft>
              <a:defRPr sz="2000">
                <a:solidFill>
                  <a:srgbClr val="F8FAFC"/>
                </a:solidFill>
                <a:latin typeface="Calibri"/>
              </a:defRPr>
            </a:pPr>
            <a:r>
              <a:t>•  Oracle triggers/procedures enforce SLA, audit, scoring, and escalation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8FAFC"/>
                </a:solidFill>
                <a:latin typeface="Calibri"/>
              </a:rPr>
              <a:t>Key Features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051560"/>
            <a:ext cx="2697480" cy="51206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6072" y="12801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38BDF8"/>
                </a:solidFill>
                <a:latin typeface="Calibri"/>
              </a:rPr>
              <a:t>Authentication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72" y="2011680"/>
            <a:ext cx="23774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 Email + password login</a:t>
            </a:r>
          </a:p>
          <a:p>
            <a:pPr>
              <a:spcAft>
                <a:spcPts val="8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 Forgot-password reset</a:t>
            </a:r>
          </a:p>
          <a:p>
            <a:pPr>
              <a:spcAft>
                <a:spcPts val="8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 Role-based session guards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46120" y="1051560"/>
            <a:ext cx="2697480" cy="51206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10712" y="12801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38BDF8"/>
                </a:solidFill>
                <a:latin typeface="Calibri"/>
              </a:rPr>
              <a:t>Student Portal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10712" y="2011680"/>
            <a:ext cx="23774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 Submit complaints</a:t>
            </a:r>
          </a:p>
          <a:p>
            <a:pPr>
              <a:spcAft>
                <a:spcPts val="8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 Filter / search / SLA</a:t>
            </a:r>
          </a:p>
          <a:p>
            <a:pPr>
              <a:spcAft>
                <a:spcPts val="8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 Rate resolved jobs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80760" y="1051560"/>
            <a:ext cx="2697480" cy="51206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45352" y="12801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38BDF8"/>
                </a:solidFill>
                <a:latin typeface="Calibri"/>
              </a:rPr>
              <a:t>Worker Portal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45352" y="2011680"/>
            <a:ext cx="23774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 Active &amp; done queues</a:t>
            </a:r>
          </a:p>
          <a:p>
            <a:pPr>
              <a:spcAft>
                <a:spcPts val="8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 Start / resolve jobs</a:t>
            </a:r>
          </a:p>
          <a:p>
            <a:pPr>
              <a:spcAft>
                <a:spcPts val="8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 Availability toggle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15400" y="1051560"/>
            <a:ext cx="2697480" cy="51206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79992" y="12801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38BDF8"/>
                </a:solidFill>
                <a:latin typeface="Calibri"/>
              </a:rPr>
              <a:t>Ops + Admin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79992" y="2011680"/>
            <a:ext cx="23774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 Assign / overdue / chronic</a:t>
            </a:r>
          </a:p>
          <a:p>
            <a:pPr>
              <a:spcAft>
                <a:spcPts val="8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 Monthly reports</a:t>
            </a:r>
          </a:p>
          <a:p>
            <a:pPr>
              <a:spcAft>
                <a:spcPts val="8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 Directory + CSV import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Calibri"/>
              </a:rPr>
              <a:t>End-to-End Complaint Lifecycle</a:t>
            </a:r>
          </a:p>
        </p:txBody>
      </p:sp>
      <p:pic>
        <p:nvPicPr>
          <p:cNvPr id="4" name="Picture 3" descr="diagram-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47120" cy="389900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Calibri"/>
              </a:rPr>
              <a:t>Role-Based Access Model</a:t>
            </a:r>
          </a:p>
        </p:txBody>
      </p:sp>
      <p:pic>
        <p:nvPicPr>
          <p:cNvPr id="4" name="Picture 3" descr="diagram-ro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822960"/>
            <a:ext cx="11064240" cy="55321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Calibri"/>
              </a:rPr>
              <a:t>System Architecture</a:t>
            </a:r>
          </a:p>
        </p:txBody>
      </p:sp>
      <p:pic>
        <p:nvPicPr>
          <p:cNvPr id="4" name="Picture 3" descr="diagram-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822960"/>
            <a:ext cx="9523141" cy="55778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8FAFC"/>
                </a:solidFill>
                <a:latin typeface="Calibri"/>
              </a:rPr>
              <a:t>Entity Relationship Overview</a:t>
            </a:r>
          </a:p>
        </p:txBody>
      </p:sp>
      <p:pic>
        <p:nvPicPr>
          <p:cNvPr id="4" name="Picture 3" descr="diagram-erd-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640080"/>
            <a:ext cx="8512232" cy="58521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8FAFC"/>
                </a:solidFill>
                <a:latin typeface="Calibri"/>
              </a:rPr>
              <a:t>Database Schema 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alibri"/>
              </a:rPr>
              <a:t>USERS · LOCATIONS · COMPLAINTS · WORKERS · ASSIGNMENTS · STATUS_LOG · FEEDBACK · CHRONIC_FLAGS · MAINTENANCE_REPORTS</a:t>
            </a:r>
          </a:p>
        </p:txBody>
      </p:sp>
      <p:pic>
        <p:nvPicPr>
          <p:cNvPr id="5" name="Picture 4" descr="diagram-erd-dbea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05840"/>
            <a:ext cx="9363456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Calibri"/>
              </a:rPr>
              <a:t>PL/SQL Business Logic</a:t>
            </a:r>
          </a:p>
        </p:txBody>
      </p:sp>
      <p:pic>
        <p:nvPicPr>
          <p:cNvPr id="4" name="Picture 3" descr="diagram-plsq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777240"/>
            <a:ext cx="10175630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Calibri"/>
              </a:rPr>
              <a:t>Secure Login &amp; Demo Access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858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Calibri"/>
              </a:rPr>
              <a:t>Email + password authentication  ·  Default demo password: Password123  ·  Forgot-password reset codes</a:t>
            </a:r>
          </a:p>
        </p:txBody>
      </p:sp>
      <p:pic>
        <p:nvPicPr>
          <p:cNvPr id="5" name="Picture 4" descr="ui-01-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143000"/>
            <a:ext cx="9418320" cy="446082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Calibri"/>
              </a:rPr>
              <a:t>Student Portal</a:t>
            </a:r>
          </a:p>
        </p:txBody>
      </p:sp>
      <p:pic>
        <p:nvPicPr>
          <p:cNvPr id="4" name="Picture 3" descr="ui-02-stud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640080"/>
            <a:ext cx="5715000" cy="2717973"/>
          </a:xfrm>
          <a:prstGeom prst="rect">
            <a:avLst/>
          </a:prstGeom>
        </p:spPr>
      </p:pic>
      <p:pic>
        <p:nvPicPr>
          <p:cNvPr id="5" name="Picture 4" descr="ui-04-student-detai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640080"/>
            <a:ext cx="5623560" cy="269096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3840480"/>
            <a:ext cx="107899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8FAFC"/>
                </a:solidFill>
                <a:latin typeface="Calibri"/>
              </a:defRPr>
            </a:pPr>
            <a:r>
              <a:t>•  Submit complaints tied to campus locations with category and priority</a:t>
            </a:r>
          </a:p>
          <a:p>
            <a:pPr>
              <a:spcAft>
                <a:spcPts val="800"/>
              </a:spcAft>
              <a:defRPr sz="1800">
                <a:solidFill>
                  <a:srgbClr val="F8FAFC"/>
                </a:solidFill>
                <a:latin typeface="Calibri"/>
              </a:defRPr>
            </a:pPr>
            <a:r>
              <a:t>•  Filter, search, and track SLA remaining time on open tickets</a:t>
            </a:r>
          </a:p>
          <a:p>
            <a:pPr>
              <a:spcAft>
                <a:spcPts val="800"/>
              </a:spcAft>
              <a:defRPr sz="1800">
                <a:solidFill>
                  <a:srgbClr val="F8FAFC"/>
                </a:solidFill>
                <a:latin typeface="Calibri"/>
              </a:defRPr>
            </a:pPr>
            <a:r>
              <a:t>•  Rate resolved work to feed worker performance scoring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Calibri"/>
              </a:rPr>
              <a:t>Worker Portal</a:t>
            </a:r>
          </a:p>
        </p:txBody>
      </p:sp>
      <p:pic>
        <p:nvPicPr>
          <p:cNvPr id="4" name="Picture 3" descr="ui-03-work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640080"/>
            <a:ext cx="5715000" cy="2678906"/>
          </a:xfrm>
          <a:prstGeom prst="rect">
            <a:avLst/>
          </a:prstGeom>
        </p:spPr>
      </p:pic>
      <p:pic>
        <p:nvPicPr>
          <p:cNvPr id="5" name="Picture 4" descr="ui-05-worker-job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640080"/>
            <a:ext cx="5623560" cy="259210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3840480"/>
            <a:ext cx="107899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8FAFC"/>
                </a:solidFill>
                <a:latin typeface="Calibri"/>
              </a:defRPr>
            </a:pPr>
            <a:r>
              <a:t>•  Active vs completed job filters with SLA urgency cues</a:t>
            </a:r>
          </a:p>
          <a:p>
            <a:pPr>
              <a:spcAft>
                <a:spcPts val="800"/>
              </a:spcAft>
              <a:defRPr sz="1800">
                <a:solidFill>
                  <a:srgbClr val="F8FAFC"/>
                </a:solidFill>
                <a:latin typeface="Calibri"/>
              </a:defRPr>
            </a:pPr>
            <a:r>
              <a:t>•  Start and resolve assignments with optional repair cost</a:t>
            </a:r>
          </a:p>
          <a:p>
            <a:pPr>
              <a:spcAft>
                <a:spcPts val="800"/>
              </a:spcAft>
              <a:defRPr sz="1800">
                <a:solidFill>
                  <a:srgbClr val="F8FAFC"/>
                </a:solidFill>
                <a:latin typeface="Calibri"/>
              </a:defRPr>
            </a:pPr>
            <a:r>
              <a:t>•  Toggle availability so supervisors assign only ready workers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8FAFC"/>
                </a:solidFill>
                <a:latin typeface="Calibri"/>
              </a:rPr>
              <a:t>Supervisor Dashboard</a:t>
            </a:r>
          </a:p>
        </p:txBody>
      </p:sp>
      <p:pic>
        <p:nvPicPr>
          <p:cNvPr id="4" name="Picture 3" descr="ui-06-supervisor-assig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502920"/>
            <a:ext cx="5806440" cy="2738779"/>
          </a:xfrm>
          <a:prstGeom prst="rect">
            <a:avLst/>
          </a:prstGeom>
        </p:spPr>
      </p:pic>
      <p:pic>
        <p:nvPicPr>
          <p:cNvPr id="5" name="Picture 4" descr="ui-07-supervisor-que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502920"/>
            <a:ext cx="5715000" cy="2712392"/>
          </a:xfrm>
          <a:prstGeom prst="rect">
            <a:avLst/>
          </a:prstGeom>
        </p:spPr>
      </p:pic>
      <p:pic>
        <p:nvPicPr>
          <p:cNvPr id="6" name="Picture 5" descr="ui-08-supervisor-overdu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" y="3611880"/>
            <a:ext cx="3794760" cy="1493445"/>
          </a:xfrm>
          <a:prstGeom prst="rect">
            <a:avLst/>
          </a:prstGeom>
        </p:spPr>
      </p:pic>
      <p:pic>
        <p:nvPicPr>
          <p:cNvPr id="7" name="Picture 6" descr="ui-09-supervisor-worker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60520" y="3611880"/>
            <a:ext cx="3794760" cy="1734323"/>
          </a:xfrm>
          <a:prstGeom prst="rect">
            <a:avLst/>
          </a:prstGeom>
        </p:spPr>
      </p:pic>
      <p:pic>
        <p:nvPicPr>
          <p:cNvPr id="8" name="Picture 7" descr="ui-10-supervisor-chroni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2440" y="3611880"/>
            <a:ext cx="3794760" cy="1363741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8FAFC"/>
                </a:solidFill>
                <a:latin typeface="Calibri"/>
              </a:rPr>
              <a:t>Admin Dashboard &amp; Directory</a:t>
            </a:r>
          </a:p>
        </p:txBody>
      </p:sp>
      <p:pic>
        <p:nvPicPr>
          <p:cNvPr id="4" name="Picture 3" descr="ui-13-admin-repor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502920"/>
            <a:ext cx="5806440" cy="2449591"/>
          </a:xfrm>
          <a:prstGeom prst="rect">
            <a:avLst/>
          </a:prstGeom>
        </p:spPr>
      </p:pic>
      <p:pic>
        <p:nvPicPr>
          <p:cNvPr id="5" name="Picture 4" descr="ui-14-admin-directo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502920"/>
            <a:ext cx="5715000" cy="2684487"/>
          </a:xfrm>
          <a:prstGeom prst="rect">
            <a:avLst/>
          </a:prstGeom>
        </p:spPr>
      </p:pic>
      <p:pic>
        <p:nvPicPr>
          <p:cNvPr id="6" name="Picture 5" descr="ui-15-admin-add-stud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" y="3566160"/>
            <a:ext cx="3794760" cy="1771382"/>
          </a:xfrm>
          <a:prstGeom prst="rect">
            <a:avLst/>
          </a:prstGeom>
        </p:spPr>
      </p:pic>
      <p:pic>
        <p:nvPicPr>
          <p:cNvPr id="7" name="Picture 6" descr="ui-16-admin-add-work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60520" y="3566160"/>
            <a:ext cx="3794760" cy="1763970"/>
          </a:xfrm>
          <a:prstGeom prst="rect">
            <a:avLst/>
          </a:prstGeom>
        </p:spPr>
      </p:pic>
      <p:pic>
        <p:nvPicPr>
          <p:cNvPr id="8" name="Picture 7" descr="ui-17-admin-students-lis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2440" y="3566160"/>
            <a:ext cx="3794760" cy="181214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Calibri"/>
              </a:rPr>
              <a:t>Tech Stack &amp; Demo Accounts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960120"/>
            <a:ext cx="5486400" cy="52120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188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34D399"/>
                </a:solidFill>
                <a:latin typeface="Calibri"/>
              </a:rPr>
              <a:t>Technology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F8FAFC"/>
                </a:solidFill>
                <a:latin typeface="Calibri"/>
              </a:defRPr>
            </a:pPr>
            <a:r>
              <a:t>•  Oracle Database (SQL + PL/SQL)</a:t>
            </a:r>
          </a:p>
          <a:p>
            <a:pPr>
              <a:spcAft>
                <a:spcPts val="800"/>
              </a:spcAft>
              <a:defRPr sz="1700">
                <a:solidFill>
                  <a:srgbClr val="F8FAFC"/>
                </a:solidFill>
                <a:latin typeface="Calibri"/>
              </a:defRPr>
            </a:pPr>
            <a:r>
              <a:t>•  Node.js + Express + oracledb</a:t>
            </a:r>
          </a:p>
          <a:p>
            <a:pPr>
              <a:spcAft>
                <a:spcPts val="800"/>
              </a:spcAft>
              <a:defRPr sz="1700">
                <a:solidFill>
                  <a:srgbClr val="F8FAFC"/>
                </a:solidFill>
                <a:latin typeface="Calibri"/>
              </a:defRPr>
            </a:pPr>
            <a:r>
              <a:t>•  HTML / CSS / JavaScript portals</a:t>
            </a:r>
          </a:p>
          <a:p>
            <a:pPr>
              <a:spcAft>
                <a:spcPts val="800"/>
              </a:spcAft>
              <a:defRPr sz="1700">
                <a:solidFill>
                  <a:srgbClr val="F8FAFC"/>
                </a:solidFill>
                <a:latin typeface="Calibri"/>
              </a:defRPr>
            </a:pPr>
            <a:r>
              <a:t>•  DBeaver / SQL Developer tooling</a:t>
            </a:r>
          </a:p>
          <a:p>
            <a:pPr>
              <a:spcAft>
                <a:spcPts val="800"/>
              </a:spcAft>
              <a:defRPr sz="1700">
                <a:solidFill>
                  <a:srgbClr val="F8FAFC"/>
                </a:solidFill>
                <a:latin typeface="Calibri"/>
              </a:defRPr>
            </a:pPr>
            <a:r>
              <a:t>•  GitHub version control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960120"/>
            <a:ext cx="5486400" cy="52120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188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A78BFA"/>
                </a:solidFill>
                <a:latin typeface="Calibri"/>
              </a:rPr>
              <a:t>Demo Login (Password123)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0" y="173736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F8FAFC"/>
                </a:solidFill>
                <a:latin typeface="Calibri"/>
              </a:defRPr>
            </a:pPr>
            <a:r>
              <a:t>•  Student — hassan.r@stu.edu</a:t>
            </a:r>
          </a:p>
          <a:p>
            <a:pPr>
              <a:spcAft>
                <a:spcPts val="800"/>
              </a:spcAft>
              <a:defRPr sz="1700">
                <a:solidFill>
                  <a:srgbClr val="F8FAFC"/>
                </a:solidFill>
                <a:latin typeface="Calibri"/>
              </a:defRPr>
            </a:pPr>
            <a:r>
              <a:t>•  Worker — rashid.i@campus.edu</a:t>
            </a:r>
          </a:p>
          <a:p>
            <a:pPr>
              <a:spcAft>
                <a:spcPts val="800"/>
              </a:spcAft>
              <a:defRPr sz="1700">
                <a:solidFill>
                  <a:srgbClr val="F8FAFC"/>
                </a:solidFill>
                <a:latin typeface="Calibri"/>
              </a:defRPr>
            </a:pPr>
            <a:r>
              <a:t>•  Supervisor — omar.s@campus.edu</a:t>
            </a:r>
          </a:p>
          <a:p>
            <a:pPr>
              <a:spcAft>
                <a:spcPts val="800"/>
              </a:spcAft>
              <a:defRPr sz="1700">
                <a:solidFill>
                  <a:srgbClr val="F8FAFC"/>
                </a:solidFill>
                <a:latin typeface="Calibri"/>
              </a:defRPr>
            </a:pPr>
            <a:r>
              <a:t>•  Admin — admin@campus.edu</a:t>
            </a:r>
          </a:p>
          <a:p>
            <a:pPr>
              <a:spcAft>
                <a:spcPts val="800"/>
              </a:spcAft>
              <a:defRPr sz="1700">
                <a:solidFill>
                  <a:srgbClr val="F8FAFC"/>
                </a:solidFill>
                <a:latin typeface="Calibri"/>
              </a:defRPr>
            </a:pPr>
            <a:r>
              <a:t>•  Local URL — http://localhost:3000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8FAFC"/>
                </a:solidFill>
                <a:latin typeface="Calibri"/>
              </a:rPr>
              <a:t>GitHub Repository &amp; Development History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029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8BDF8"/>
                </a:solidFill>
                <a:latin typeface="Calibri"/>
              </a:rPr>
              <a:t>https://github.com/ATSadi/dB-proj/</a:t>
            </a:r>
          </a:p>
        </p:txBody>
      </p:sp>
      <p:pic>
        <p:nvPicPr>
          <p:cNvPr id="5" name="Picture 4" descr="github-01-rep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5481485" cy="2788920"/>
          </a:xfrm>
          <a:prstGeom prst="rect">
            <a:avLst/>
          </a:prstGeom>
        </p:spPr>
      </p:pic>
      <p:pic>
        <p:nvPicPr>
          <p:cNvPr id="6" name="Picture 5" descr="github-02-commi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868680"/>
            <a:ext cx="3200400" cy="3925110"/>
          </a:xfrm>
          <a:prstGeom prst="rect">
            <a:avLst/>
          </a:prstGeom>
        </p:spPr>
      </p:pic>
      <p:pic>
        <p:nvPicPr>
          <p:cNvPr id="7" name="Picture 6" descr="github-03-contributo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3794760"/>
            <a:ext cx="5766637" cy="269748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488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F8FAFC"/>
                </a:solidFill>
                <a:latin typeface="Calibri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4612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94A3B8"/>
                </a:solidFill>
                <a:latin typeface="Calibri"/>
              </a:rPr>
              <a:t>Questions &amp; Discussion Welcome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148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38BDF8"/>
                </a:solidFill>
                <a:latin typeface="Calibri"/>
              </a:rPr>
              <a:t>Ahnaf Tajwar Sadi  ·  2207104
Campus Maintenance &amp; Complaint Management System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